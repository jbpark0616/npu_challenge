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Multicast + Barrier Synchronization on the NPU Core Grid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04672" y="1207008"/>
            <a:ext cx="1956816" cy="1956816"/>
          </a:xfrm>
          <a:prstGeom prst="roundRect">
            <a:avLst>
              <a:gd name="adj" fmla="val 4673"/>
            </a:avLst>
          </a:prstGeom>
          <a:solidFill>
            <a:srgbClr val="EAF1FB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Receivers Ready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54480" y="13716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9696" y="13716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9696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2542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542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9696" y="2542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13716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3E7CC4"/>
          </a:solidFill>
          <a:ln w="20320">
            <a:solidFill>
              <a:srgbClr val="2F5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60804" y="1421892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46020" y="1421892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75588" y="2007108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0804" y="2007108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46020" y="2007108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75588" y="2592324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0804" y="2592324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46020" y="2592324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76472" y="1207008"/>
            <a:ext cx="1956816" cy="1956816"/>
          </a:xfrm>
          <a:prstGeom prst="roundRect">
            <a:avLst>
              <a:gd name="adj" fmla="val 4673"/>
            </a:avLst>
          </a:prstGeom>
          <a:solidFill>
            <a:srgbClr val="EAF1FB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804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Sender Waits  (ready_count = 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13716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13716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41064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11496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41064" y="2542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26280" y="2542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11496" y="2542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41064" y="13716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3E7CC4"/>
          </a:solidFill>
          <a:ln w="20320">
            <a:solidFill>
              <a:srgbClr val="2F5F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4106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32604" y="1421892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17820" y="1421892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47388" y="2007108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32604" y="2007108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2007108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47388" y="2592324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32604" y="2592324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17820" y="2592324"/>
            <a:ext cx="100584" cy="100584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5344" y="1325880"/>
            <a:ext cx="548640" cy="548640"/>
          </a:xfrm>
          <a:prstGeom prst="roundRect">
            <a:avLst>
              <a:gd name="adj" fmla="val 13333"/>
            </a:avLst>
          </a:prstGeom>
          <a:ln w="25400">
            <a:solidFill>
              <a:srgbClr val="2F6F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48272" y="1207008"/>
            <a:ext cx="1956816" cy="1956816"/>
          </a:xfrm>
          <a:prstGeom prst="roundRect">
            <a:avLst>
              <a:gd name="adj" fmla="val 4673"/>
            </a:avLst>
          </a:prstGeom>
          <a:solidFill>
            <a:srgbClr val="FDEFE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804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Segmented Data Multicast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0" y="13716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83296" y="13716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12864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98080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83296" y="195681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12864" y="2542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98080" y="2542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83296" y="254203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12864" y="137160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3E7CC4"/>
          </a:solidFill>
          <a:ln w="20320">
            <a:solidFill>
              <a:srgbClr val="2F5F9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1286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141464" y="1600200"/>
            <a:ext cx="585216" cy="0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141464" y="1600200"/>
            <a:ext cx="1170432" cy="0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141464" y="1600200"/>
            <a:ext cx="0" cy="585216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141464" y="1600200"/>
            <a:ext cx="585216" cy="585216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141464" y="1600200"/>
            <a:ext cx="1170432" cy="585216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141464" y="1600200"/>
            <a:ext cx="0" cy="1170432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141464" y="1600200"/>
            <a:ext cx="585216" cy="1170432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141464" y="1600200"/>
            <a:ext cx="1170432" cy="1170432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04672" y="3813048"/>
            <a:ext cx="1956816" cy="1956816"/>
          </a:xfrm>
          <a:prstGeom prst="roundRect">
            <a:avLst>
              <a:gd name="adj" fmla="val 4673"/>
            </a:avLst>
          </a:prstGeom>
          <a:solidFill>
            <a:srgbClr val="FDEFE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410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NoC Completion Barrier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554480" y="3977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39696" y="3977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9264" y="45628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554480" y="45628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39696" y="45628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264" y="51480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554480" y="51480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39696" y="51480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9264" y="3977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3E7CC4"/>
          </a:solidFill>
          <a:ln w="20320">
            <a:solidFill>
              <a:srgbClr val="2F5F9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9264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 flipH="1">
            <a:off x="1197864" y="4206240"/>
            <a:ext cx="585216" cy="0"/>
          </a:xfrm>
          <a:prstGeom prst="line">
            <a:avLst/>
          </a:prstGeom>
          <a:noFill/>
          <a:ln w="9525">
            <a:solidFill>
              <a:srgbClr val="9AA0A6"/>
            </a:solidFill>
            <a:prstDash val="dash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 flipH="1">
            <a:off x="1197864" y="4206240"/>
            <a:ext cx="1170432" cy="0"/>
          </a:xfrm>
          <a:prstGeom prst="line">
            <a:avLst/>
          </a:prstGeom>
          <a:noFill/>
          <a:ln w="9525">
            <a:solidFill>
              <a:srgbClr val="9AA0A6"/>
            </a:solidFill>
            <a:prstDash val="dash"/>
            <a:headEnd type="none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97864" y="4206240"/>
            <a:ext cx="0" cy="585216"/>
          </a:xfrm>
          <a:prstGeom prst="line">
            <a:avLst/>
          </a:prstGeom>
          <a:noFill/>
          <a:ln w="9525">
            <a:solidFill>
              <a:srgbClr val="9AA0A6"/>
            </a:solidFill>
            <a:prstDash val="dash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 flipH="1" flipV="1">
            <a:off x="1197864" y="4206240"/>
            <a:ext cx="585216" cy="585216"/>
          </a:xfrm>
          <a:prstGeom prst="line">
            <a:avLst/>
          </a:prstGeom>
          <a:noFill/>
          <a:ln w="9525">
            <a:solidFill>
              <a:srgbClr val="9AA0A6"/>
            </a:solidFill>
            <a:prstDash val="dash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 flipH="1" flipV="1">
            <a:off x="1197864" y="4206240"/>
            <a:ext cx="1170432" cy="585216"/>
          </a:xfrm>
          <a:prstGeom prst="line">
            <a:avLst/>
          </a:prstGeom>
          <a:noFill/>
          <a:ln w="9525">
            <a:solidFill>
              <a:srgbClr val="9AA0A6"/>
            </a:solidFill>
            <a:prstDash val="dash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 flipV="1">
            <a:off x="1197864" y="4206240"/>
            <a:ext cx="0" cy="1170432"/>
          </a:xfrm>
          <a:prstGeom prst="line">
            <a:avLst/>
          </a:prstGeom>
          <a:noFill/>
          <a:ln w="9525">
            <a:solidFill>
              <a:srgbClr val="9AA0A6"/>
            </a:solidFill>
            <a:prstDash val="dash"/>
            <a:headEnd type="none"/>
            <a:tailEnd type="triangle"/>
          </a:ln>
        </p:spPr>
      </p:sp>
      <p:sp>
        <p:nvSpPr>
          <p:cNvPr id="82" name="Shape 80"/>
          <p:cNvSpPr/>
          <p:nvPr/>
        </p:nvSpPr>
        <p:spPr>
          <a:xfrm flipH="1" flipV="1">
            <a:off x="1197864" y="4206240"/>
            <a:ext cx="585216" cy="1170432"/>
          </a:xfrm>
          <a:prstGeom prst="line">
            <a:avLst/>
          </a:prstGeom>
          <a:noFill/>
          <a:ln w="9525">
            <a:solidFill>
              <a:srgbClr val="9AA0A6"/>
            </a:solidFill>
            <a:prstDash val="dash"/>
            <a:headEnd type="none"/>
            <a:tailEnd type="triangle"/>
          </a:ln>
        </p:spPr>
      </p:sp>
      <p:sp>
        <p:nvSpPr>
          <p:cNvPr id="83" name="Shape 81"/>
          <p:cNvSpPr/>
          <p:nvPr/>
        </p:nvSpPr>
        <p:spPr>
          <a:xfrm flipH="1" flipV="1">
            <a:off x="1197864" y="4206240"/>
            <a:ext cx="1170432" cy="1170432"/>
          </a:xfrm>
          <a:prstGeom prst="line">
            <a:avLst/>
          </a:prstGeom>
          <a:noFill/>
          <a:ln w="9525">
            <a:solidFill>
              <a:srgbClr val="9AA0A6"/>
            </a:solidFill>
            <a:prstDash val="dash"/>
            <a:headEnd type="none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923544" y="3931920"/>
            <a:ext cx="548640" cy="548640"/>
          </a:xfrm>
          <a:prstGeom prst="roundRect">
            <a:avLst>
              <a:gd name="adj" fmla="val 15000"/>
            </a:avLst>
          </a:prstGeom>
          <a:ln w="28575">
            <a:solidFill>
              <a:srgbClr val="E23B2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517904" y="3959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23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‖ NoC barrier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776472" y="3813048"/>
            <a:ext cx="1956816" cy="1956816"/>
          </a:xfrm>
          <a:prstGeom prst="roundRect">
            <a:avLst>
              <a:gd name="adj" fmla="val 4673"/>
            </a:avLst>
          </a:prstGeom>
          <a:solidFill>
            <a:srgbClr val="EAF1FB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410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VALID Semaphore Multicast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526280" y="3977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11496" y="3977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941064" y="45628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26280" y="45628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111496" y="45628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941064" y="51480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526280" y="51480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111496" y="51480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41064" y="3977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3E7CC4"/>
          </a:solidFill>
          <a:ln w="20320">
            <a:solidFill>
              <a:srgbClr val="2F5F9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941064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4169664" y="4206240"/>
            <a:ext cx="585216" cy="0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4169664" y="4206240"/>
            <a:ext cx="1170432" cy="0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4169664" y="4206240"/>
            <a:ext cx="0" cy="585216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4169664" y="4206240"/>
            <a:ext cx="585216" cy="585216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4169664" y="4206240"/>
            <a:ext cx="1170432" cy="585216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4169664" y="4206240"/>
            <a:ext cx="0" cy="1170432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4169664" y="4206240"/>
            <a:ext cx="585216" cy="1170432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4169664" y="4206240"/>
            <a:ext cx="1170432" cy="1170432"/>
          </a:xfrm>
          <a:prstGeom prst="line">
            <a:avLst/>
          </a:prstGeom>
          <a:noFill/>
          <a:ln w="12700">
            <a:solidFill>
              <a:srgbClr val="E23B2E"/>
            </a:solidFill>
            <a:prstDash val="dash"/>
            <a:headEnd type="none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4828032" y="4023360"/>
            <a:ext cx="109728" cy="109728"/>
          </a:xfrm>
          <a:prstGeom prst="ellipse">
            <a:avLst/>
          </a:prstGeom>
          <a:solidFill>
            <a:srgbClr val="2F6FD0"/>
          </a:solidFill>
          <a:ln w="6350">
            <a:solidFill>
              <a:srgbClr val="2F6FD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13248" y="4023360"/>
            <a:ext cx="109728" cy="109728"/>
          </a:xfrm>
          <a:prstGeom prst="ellipse">
            <a:avLst/>
          </a:prstGeom>
          <a:solidFill>
            <a:srgbClr val="2F6FD0"/>
          </a:solidFill>
          <a:ln w="6350">
            <a:solidFill>
              <a:srgbClr val="2F6FD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242816" y="4608576"/>
            <a:ext cx="109728" cy="109728"/>
          </a:xfrm>
          <a:prstGeom prst="ellipse">
            <a:avLst/>
          </a:prstGeom>
          <a:solidFill>
            <a:srgbClr val="2F6FD0"/>
          </a:solidFill>
          <a:ln w="6350">
            <a:solidFill>
              <a:srgbClr val="2F6FD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828032" y="4608576"/>
            <a:ext cx="109728" cy="109728"/>
          </a:xfrm>
          <a:prstGeom prst="ellipse">
            <a:avLst/>
          </a:prstGeom>
          <a:solidFill>
            <a:srgbClr val="2F6FD0"/>
          </a:solidFill>
          <a:ln w="6350">
            <a:solidFill>
              <a:srgbClr val="2F6FD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413248" y="4608576"/>
            <a:ext cx="109728" cy="109728"/>
          </a:xfrm>
          <a:prstGeom prst="ellipse">
            <a:avLst/>
          </a:prstGeom>
          <a:solidFill>
            <a:srgbClr val="2F6FD0"/>
          </a:solidFill>
          <a:ln w="6350">
            <a:solidFill>
              <a:srgbClr val="2F6FD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42816" y="5193792"/>
            <a:ext cx="109728" cy="109728"/>
          </a:xfrm>
          <a:prstGeom prst="ellipse">
            <a:avLst/>
          </a:prstGeom>
          <a:solidFill>
            <a:srgbClr val="2F6FD0"/>
          </a:solidFill>
          <a:ln w="6350">
            <a:solidFill>
              <a:srgbClr val="2F6FD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828032" y="5193792"/>
            <a:ext cx="109728" cy="109728"/>
          </a:xfrm>
          <a:prstGeom prst="ellipse">
            <a:avLst/>
          </a:prstGeom>
          <a:solidFill>
            <a:srgbClr val="2F6FD0"/>
          </a:solidFill>
          <a:ln w="6350">
            <a:solidFill>
              <a:srgbClr val="2F6FD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413248" y="5193792"/>
            <a:ext cx="109728" cy="109728"/>
          </a:xfrm>
          <a:prstGeom prst="ellipse">
            <a:avLst/>
          </a:prstGeom>
          <a:solidFill>
            <a:srgbClr val="2F6FD0"/>
          </a:solidFill>
          <a:ln w="6350">
            <a:solidFill>
              <a:srgbClr val="2F6FD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748272" y="3813048"/>
            <a:ext cx="1956816" cy="1956816"/>
          </a:xfrm>
          <a:prstGeom prst="roundRect">
            <a:avLst>
              <a:gd name="adj" fmla="val 4673"/>
            </a:avLst>
          </a:prstGeom>
          <a:solidFill>
            <a:srgbClr val="EAF1FB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09360" y="34107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Receivers Proceed  (independent)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7498080" y="3977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2C784"/>
          </a:solidFill>
          <a:ln w="12700">
            <a:solidFill>
              <a:srgbClr val="57A25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083296" y="3977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2C784"/>
          </a:solidFill>
          <a:ln w="12700">
            <a:solidFill>
              <a:srgbClr val="57A25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912864" y="45628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2C784"/>
          </a:solidFill>
          <a:ln w="12700">
            <a:solidFill>
              <a:srgbClr val="57A25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98080" y="45628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2C784"/>
          </a:solidFill>
          <a:ln w="12700">
            <a:solidFill>
              <a:srgbClr val="57A25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083296" y="4562856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2C784"/>
          </a:solidFill>
          <a:ln w="12700">
            <a:solidFill>
              <a:srgbClr val="57A25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912864" y="51480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2C784"/>
          </a:solidFill>
          <a:ln w="12700">
            <a:solidFill>
              <a:srgbClr val="57A25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98080" y="51480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2C784"/>
          </a:solidFill>
          <a:ln w="12700">
            <a:solidFill>
              <a:srgbClr val="57A25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83296" y="514807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2C784"/>
          </a:solidFill>
          <a:ln w="12700">
            <a:solidFill>
              <a:srgbClr val="57A25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912864" y="39776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FE0F3"/>
          </a:solidFill>
          <a:ln w="20320">
            <a:solidFill>
              <a:srgbClr val="2F5F9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912864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F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 flipV="1">
            <a:off x="7891272" y="4160520"/>
            <a:ext cx="146304" cy="45720"/>
          </a:xfrm>
          <a:prstGeom prst="line">
            <a:avLst/>
          </a:prstGeom>
          <a:noFill/>
          <a:ln w="17780">
            <a:solidFill>
              <a:srgbClr val="57A25C"/>
            </a:solidFill>
            <a:prstDash val="solid"/>
            <a:headEnd type="none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8476488" y="4206240"/>
            <a:ext cx="210312" cy="45720"/>
          </a:xfrm>
          <a:prstGeom prst="line">
            <a:avLst/>
          </a:prstGeom>
          <a:noFill/>
          <a:ln w="17780">
            <a:solidFill>
              <a:srgbClr val="57A25C"/>
            </a:solidFill>
            <a:prstDash val="solid"/>
            <a:headEnd type="none"/>
            <a:tailEnd type="triangle"/>
          </a:ln>
        </p:spPr>
      </p:sp>
      <p:sp>
        <p:nvSpPr>
          <p:cNvPr id="128" name="Shape 126"/>
          <p:cNvSpPr/>
          <p:nvPr/>
        </p:nvSpPr>
        <p:spPr>
          <a:xfrm flipV="1">
            <a:off x="7306056" y="4745736"/>
            <a:ext cx="274320" cy="45720"/>
          </a:xfrm>
          <a:prstGeom prst="line">
            <a:avLst/>
          </a:prstGeom>
          <a:noFill/>
          <a:ln w="17780">
            <a:solidFill>
              <a:srgbClr val="57A25C"/>
            </a:solidFill>
            <a:prstDash val="solid"/>
            <a:headEnd type="none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7891272" y="4791456"/>
            <a:ext cx="146304" cy="45720"/>
          </a:xfrm>
          <a:prstGeom prst="line">
            <a:avLst/>
          </a:prstGeom>
          <a:noFill/>
          <a:ln w="17780">
            <a:solidFill>
              <a:srgbClr val="57A25C"/>
            </a:solidFill>
            <a:prstDash val="solid"/>
            <a:headEnd type="none"/>
            <a:tailEnd type="triangle"/>
          </a:ln>
        </p:spPr>
      </p:sp>
      <p:sp>
        <p:nvSpPr>
          <p:cNvPr id="130" name="Shape 128"/>
          <p:cNvSpPr/>
          <p:nvPr/>
        </p:nvSpPr>
        <p:spPr>
          <a:xfrm flipV="1">
            <a:off x="8476488" y="4745736"/>
            <a:ext cx="210312" cy="45720"/>
          </a:xfrm>
          <a:prstGeom prst="line">
            <a:avLst/>
          </a:prstGeom>
          <a:noFill/>
          <a:ln w="17780">
            <a:solidFill>
              <a:srgbClr val="57A25C"/>
            </a:solidFill>
            <a:prstDash val="solid"/>
            <a:headEnd type="none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7306056" y="5376672"/>
            <a:ext cx="274320" cy="45720"/>
          </a:xfrm>
          <a:prstGeom prst="line">
            <a:avLst/>
          </a:prstGeom>
          <a:noFill/>
          <a:ln w="17780">
            <a:solidFill>
              <a:srgbClr val="57A25C"/>
            </a:solidFill>
            <a:prstDash val="solid"/>
            <a:headEnd type="none"/>
            <a:tailEnd type="triangle"/>
          </a:ln>
        </p:spPr>
      </p:sp>
      <p:sp>
        <p:nvSpPr>
          <p:cNvPr id="132" name="Shape 130"/>
          <p:cNvSpPr/>
          <p:nvPr/>
        </p:nvSpPr>
        <p:spPr>
          <a:xfrm flipV="1">
            <a:off x="7891272" y="5330952"/>
            <a:ext cx="146304" cy="45720"/>
          </a:xfrm>
          <a:prstGeom prst="line">
            <a:avLst/>
          </a:prstGeom>
          <a:noFill/>
          <a:ln w="17780">
            <a:solidFill>
              <a:srgbClr val="57A25C"/>
            </a:solidFill>
            <a:prstDash val="solid"/>
            <a:headEnd type="none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8476488" y="5376672"/>
            <a:ext cx="210312" cy="45720"/>
          </a:xfrm>
          <a:prstGeom prst="line">
            <a:avLst/>
          </a:prstGeom>
          <a:noFill/>
          <a:ln w="17780">
            <a:solidFill>
              <a:srgbClr val="57A25C"/>
            </a:solidFill>
            <a:prstDash val="solid"/>
            <a:headEnd type="none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9464040" y="1207008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646920" y="1316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Legend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9720072" y="1764792"/>
            <a:ext cx="256032" cy="219456"/>
          </a:xfrm>
          <a:prstGeom prst="roundRect">
            <a:avLst>
              <a:gd name="adj" fmla="val 20833"/>
            </a:avLst>
          </a:prstGeom>
          <a:solidFill>
            <a:srgbClr val="3E7CC4"/>
          </a:solidFill>
          <a:ln w="12700">
            <a:solidFill>
              <a:srgbClr val="2F5F9E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177272" y="17007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Sender core</a:t>
            </a:r>
            <a:endParaRPr lang="en-US" sz="1050" dirty="0"/>
          </a:p>
        </p:txBody>
      </p:sp>
      <p:sp>
        <p:nvSpPr>
          <p:cNvPr id="138" name="Shape 136"/>
          <p:cNvSpPr/>
          <p:nvPr/>
        </p:nvSpPr>
        <p:spPr>
          <a:xfrm>
            <a:off x="9720072" y="2167128"/>
            <a:ext cx="256032" cy="219456"/>
          </a:xfrm>
          <a:prstGeom prst="roundRect">
            <a:avLst>
              <a:gd name="adj" fmla="val 20833"/>
            </a:avLst>
          </a:prstGeom>
          <a:solidFill>
            <a:srgbClr val="F4A462"/>
          </a:solidFill>
          <a:ln w="12700">
            <a:solidFill>
              <a:srgbClr val="DE8B4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177272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Receiver core</a:t>
            </a:r>
            <a:endParaRPr lang="en-US" sz="1050" dirty="0"/>
          </a:p>
        </p:txBody>
      </p:sp>
      <p:sp>
        <p:nvSpPr>
          <p:cNvPr id="140" name="Shape 138"/>
          <p:cNvSpPr/>
          <p:nvPr/>
        </p:nvSpPr>
        <p:spPr>
          <a:xfrm>
            <a:off x="9720072" y="2569464"/>
            <a:ext cx="256032" cy="219456"/>
          </a:xfrm>
          <a:prstGeom prst="roundRect">
            <a:avLst>
              <a:gd name="adj" fmla="val 20833"/>
            </a:avLst>
          </a:prstGeom>
          <a:solidFill>
            <a:srgbClr val="82C784"/>
          </a:solidFill>
          <a:ln w="12700">
            <a:solidFill>
              <a:srgbClr val="57A25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177272" y="2505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Proceeding (running)</a:t>
            </a:r>
            <a:endParaRPr lang="en-US" sz="1050" dirty="0"/>
          </a:p>
        </p:txBody>
      </p:sp>
      <p:sp>
        <p:nvSpPr>
          <p:cNvPr id="142" name="Shape 140"/>
          <p:cNvSpPr/>
          <p:nvPr/>
        </p:nvSpPr>
        <p:spPr>
          <a:xfrm>
            <a:off x="9784080" y="3017520"/>
            <a:ext cx="128016" cy="128016"/>
          </a:xfrm>
          <a:prstGeom prst="ellipse">
            <a:avLst/>
          </a:prstGeom>
          <a:solidFill>
            <a:srgbClr val="5FB56A"/>
          </a:solidFill>
          <a:ln w="6350">
            <a:solidFill>
              <a:srgbClr val="5FB56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0177272" y="29077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flag</a:t>
            </a:r>
            <a:endParaRPr lang="en-US" sz="1050" dirty="0"/>
          </a:p>
        </p:txBody>
      </p:sp>
      <p:sp>
        <p:nvSpPr>
          <p:cNvPr id="144" name="Shape 142"/>
          <p:cNvSpPr/>
          <p:nvPr/>
        </p:nvSpPr>
        <p:spPr>
          <a:xfrm>
            <a:off x="9784080" y="3419856"/>
            <a:ext cx="128016" cy="128016"/>
          </a:xfrm>
          <a:prstGeom prst="ellipse">
            <a:avLst/>
          </a:prstGeom>
          <a:solidFill>
            <a:srgbClr val="2F6FD0"/>
          </a:solidFill>
          <a:ln w="6350">
            <a:solidFill>
              <a:srgbClr val="2F6FD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177272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 semaphore set</a:t>
            </a:r>
            <a:endParaRPr lang="en-US" sz="1050" dirty="0"/>
          </a:p>
        </p:txBody>
      </p:sp>
      <p:sp>
        <p:nvSpPr>
          <p:cNvPr id="146" name="Shape 144"/>
          <p:cNvSpPr/>
          <p:nvPr/>
        </p:nvSpPr>
        <p:spPr>
          <a:xfrm>
            <a:off x="9701784" y="3886200"/>
            <a:ext cx="310896" cy="0"/>
          </a:xfrm>
          <a:prstGeom prst="line">
            <a:avLst/>
          </a:prstGeom>
          <a:noFill/>
          <a:ln w="19050">
            <a:solidFill>
              <a:srgbClr val="E23B2E"/>
            </a:solidFill>
            <a:prstDash val="dash"/>
            <a:tailEnd type="triangle"/>
          </a:ln>
        </p:spPr>
      </p:sp>
      <p:sp>
        <p:nvSpPr>
          <p:cNvPr id="147" name="Text 145"/>
          <p:cNvSpPr/>
          <p:nvPr/>
        </p:nvSpPr>
        <p:spPr>
          <a:xfrm>
            <a:off x="10177272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Multicast (mcast)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9646920" y="4224528"/>
            <a:ext cx="224028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701784" y="4370832"/>
            <a:ext cx="292608" cy="237744"/>
          </a:xfrm>
          <a:prstGeom prst="roundRect">
            <a:avLst>
              <a:gd name="adj" fmla="val 19231"/>
            </a:avLst>
          </a:prstGeom>
          <a:solidFill>
            <a:srgbClr val="EAF1FB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177272" y="4315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SW: software sync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9701784" y="4773168"/>
            <a:ext cx="292608" cy="237744"/>
          </a:xfrm>
          <a:prstGeom prst="roundRect">
            <a:avLst>
              <a:gd name="adj" fmla="val 19231"/>
            </a:avLst>
          </a:prstGeom>
          <a:solidFill>
            <a:srgbClr val="FDEFE2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0177272" y="4718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656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HW: NoC transfer</a:t>
            </a:r>
            <a:endParaRPr lang="en-US" sz="1050" dirty="0"/>
          </a:p>
        </p:txBody>
      </p:sp>
      <p:sp>
        <p:nvSpPr>
          <p:cNvPr id="153" name="Text 151"/>
          <p:cNvSpPr/>
          <p:nvPr/>
        </p:nvSpPr>
        <p:spPr>
          <a:xfrm>
            <a:off x="457200" y="562356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Fig. 6. Multicast-based barrier synchronization on the A0 NPU core grid.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sender core waits until all N receiver cores signal ready, multicasts the segmented data over the NoC, clears a sender-side NoC completion barrier, then multicasts a VALID semaphore to the receivers. Once VALID is set, each receiver proceeds independently without a global barrier.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2026-08-17T13:49:14Z</dcterms:created>
  <dcterms:modified xsi:type="dcterms:W3CDTF">2026-08-17T13:49:14Z</dcterms:modified>
</cp:coreProperties>
</file>
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137160"/>
            <a:ext cx="115214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l"/>
            <a:r>
              <a:rPr sz="2200" b="1">
                <a:solidFill>
                  <a:srgbClr val="1F2937"/>
                </a:solidFill>
                <a:latin typeface="Calibri"/>
              </a:rPr>
              <a:t>Blackhole Tensix Tile — NoC subsystem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777240"/>
            <a:ext cx="11548872" cy="507492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587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777240"/>
            <a:ext cx="2194560" cy="292608"/>
          </a:xfrm>
          <a:prstGeom prst="roundRect">
            <a:avLst>
              <a:gd name="adj" fmla="val 4000"/>
            </a:avLst>
          </a:prstGeom>
          <a:solidFill>
            <a:srgbClr val="1F293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65836" bIns="65836" wrap="square"/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Tensix Tile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371600" cy="256032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900" b="1">
                <a:solidFill>
                  <a:srgbClr val="6B7280"/>
                </a:solidFill>
                <a:latin typeface="Calibri"/>
              </a:rPr>
              <a:t>Compute (5 RISC-V)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EFF4FB"/>
          </a:solidFill>
          <a:ln w="762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900" b="0">
                <a:solidFill>
                  <a:srgbClr val="1F2937"/>
                </a:solidFill>
                <a:latin typeface="Calibri"/>
              </a:rPr>
              <a:t>BRISC  (drives NoC 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02536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EFF4FB"/>
          </a:solidFill>
          <a:ln w="762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900" b="0">
                <a:solidFill>
                  <a:srgbClr val="1F2937"/>
                </a:solidFill>
                <a:latin typeface="Calibri"/>
              </a:rPr>
              <a:t>NCRISC (drives NoC 1)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50592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EFF4FB"/>
          </a:solidFill>
          <a:ln w="762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900" b="0">
                <a:solidFill>
                  <a:srgbClr val="1F2937"/>
                </a:solidFill>
                <a:latin typeface="Calibri"/>
              </a:rPr>
              <a:t>TRISC 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898648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EFF4FB"/>
          </a:solidFill>
          <a:ln w="762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900" b="0">
                <a:solidFill>
                  <a:srgbClr val="1F2937"/>
                </a:solidFill>
                <a:latin typeface="Calibri"/>
              </a:rPr>
              <a:t>TRISC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46704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EFF4FB"/>
          </a:solidFill>
          <a:ln w="762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900" b="0">
                <a:solidFill>
                  <a:srgbClr val="1F2937"/>
                </a:solidFill>
                <a:latin typeface="Calibri"/>
              </a:rPr>
              <a:t>TRISC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57400" y="1234440"/>
            <a:ext cx="1234440" cy="256032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900" b="1">
                <a:solidFill>
                  <a:srgbClr val="6B7280"/>
                </a:solidFill>
                <a:latin typeface="Calibri"/>
              </a:rPr>
              <a:t>Local memory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57400" y="1554480"/>
            <a:ext cx="1234440" cy="3712463"/>
          </a:xfrm>
          <a:prstGeom prst="roundRect">
            <a:avLst>
              <a:gd name="adj" fmla="val 6000"/>
            </a:avLst>
          </a:prstGeom>
          <a:solidFill>
            <a:srgbClr val="F3EFFA"/>
          </a:solidFill>
          <a:ln w="762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1400" b="1">
                <a:solidFill>
                  <a:srgbClr val="1F2937"/>
                </a:solidFill>
                <a:latin typeface="Calibri"/>
              </a:rPr>
              <a:t>L1 SRAM</a:t>
            </a:r>
          </a:p>
          <a:p>
            <a:pPr algn="ctr"/>
            <a:r>
              <a:rPr sz="1100" b="0">
                <a:solidFill>
                  <a:srgbClr val="6B7280"/>
                </a:solidFill>
                <a:latin typeface="Calibri"/>
              </a:rPr>
              <a:t>1.5 MB</a:t>
            </a:r>
          </a:p>
          <a:p>
            <a:pPr algn="ctr"/>
            <a:r>
              <a:rPr sz="800" b="0">
                <a:solidFill>
                  <a:srgbClr val="1F2937"/>
                </a:solidFill>
                <a:latin typeface="Calibri"/>
              </a:rPr>
              <a:t> </a:t>
            </a:r>
          </a:p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source / target</a:t>
            </a:r>
          </a:p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of every</a:t>
            </a:r>
          </a:p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NoC packet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40" y="960120"/>
            <a:ext cx="8183879" cy="310896"/>
          </a:xfrm>
          <a:prstGeom prst="roundRect">
            <a:avLst>
              <a:gd name="adj" fmla="val 3000"/>
            </a:avLst>
          </a:prstGeom>
          <a:solidFill>
            <a:srgbClr val="1F293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65836" bIns="65836" wrap="square"/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NIU  (Network Interface Unit)   —   one per NoC   ×2 per tile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1271016"/>
            <a:ext cx="8183879" cy="3209544"/>
          </a:xfrm>
          <a:prstGeom prst="roundRect">
            <a:avLst>
              <a:gd name="adj" fmla="val 2000"/>
            </a:avLst>
          </a:prstGeom>
          <a:solidFill>
            <a:srgbClr val="FAFAF9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21608" y="1463040"/>
            <a:ext cx="1554480" cy="8686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762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1100" b="1">
                <a:solidFill>
                  <a:srgbClr val="1F2937"/>
                </a:solidFill>
                <a:latin typeface="Calibri"/>
              </a:rPr>
              <a:t>CMD BUF × 4</a:t>
            </a:r>
          </a:p>
          <a:p>
            <a:pPr algn="ctr"/>
            <a:r>
              <a:rPr sz="800" b="0">
                <a:solidFill>
                  <a:srgbClr val="6B7280"/>
                </a:solidFill>
                <a:latin typeface="Calibri"/>
              </a:rPr>
              <a:t>0x800 stride</a:t>
            </a:r>
          </a:p>
          <a:p>
            <a:pPr algn="ctr"/>
            <a:r>
              <a:rPr sz="800" b="0">
                <a:solidFill>
                  <a:srgbClr val="6B7280"/>
                </a:solidFill>
                <a:latin typeface="Calibri"/>
              </a:rPr>
              <a:t>FIFO per buf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94960" y="1417320"/>
            <a:ext cx="6126479" cy="28346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394960" y="1417320"/>
            <a:ext cx="6126479" cy="237744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82296" bIns="82296" wrap="square"/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Command / Status registers    (base = NOC_REGS_START_ADDR + offset)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32120" y="1746504"/>
            <a:ext cx="5010912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577840" y="1773936"/>
            <a:ext cx="1097280" cy="182880"/>
          </a:xfrm>
          <a:prstGeom prst="roundRect">
            <a:avLst>
              <a:gd name="adj" fmla="val 15000"/>
            </a:avLst>
          </a:prstGeom>
          <a:solidFill>
            <a:srgbClr val="F3F4F6"/>
          </a:solidFill>
          <a:ln w="508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32918" bIns="32918" wrap="square"/>
          <a:lstStyle/>
          <a:p>
            <a:pPr algn="l"/>
            <a:r>
              <a:rPr sz="800" b="1">
                <a:solidFill>
                  <a:srgbClr val="6B7280"/>
                </a:solidFill>
                <a:latin typeface="Calibri"/>
              </a:rPr>
              <a:t>Address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05272" y="2002536"/>
            <a:ext cx="749808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698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900" b="1">
                <a:solidFill>
                  <a:srgbClr val="1F2937"/>
                </a:solidFill>
                <a:latin typeface="Calibri"/>
              </a:rPr>
              <a:t>TARG_LO</a:t>
            </a:r>
          </a:p>
          <a:p>
            <a:pPr algn="ctr"/>
            <a:r>
              <a:rPr sz="700" b="0">
                <a:solidFill>
                  <a:srgbClr val="6B7280"/>
                </a:solidFill>
                <a:latin typeface="Calibri"/>
              </a:rPr>
              <a:t>0x00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28232" y="2002536"/>
            <a:ext cx="749808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698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900" b="1">
                <a:solidFill>
                  <a:srgbClr val="1F2937"/>
                </a:solidFill>
                <a:latin typeface="Calibri"/>
              </a:rPr>
              <a:t>TARG_MID</a:t>
            </a:r>
          </a:p>
          <a:p>
            <a:pPr algn="ctr"/>
            <a:r>
              <a:rPr sz="700" b="0">
                <a:solidFill>
                  <a:srgbClr val="6B7280"/>
                </a:solidFill>
                <a:latin typeface="Calibri"/>
              </a:rPr>
              <a:t>0x04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51192" y="2002536"/>
            <a:ext cx="749808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698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900" b="1">
                <a:solidFill>
                  <a:srgbClr val="1F2937"/>
                </a:solidFill>
                <a:latin typeface="Calibri"/>
              </a:rPr>
              <a:t>TARG_HI</a:t>
            </a:r>
          </a:p>
          <a:p>
            <a:pPr algn="ctr"/>
            <a:r>
              <a:rPr sz="700" b="0">
                <a:solidFill>
                  <a:srgbClr val="6B7280"/>
                </a:solidFill>
                <a:latin typeface="Calibri"/>
              </a:rPr>
              <a:t>0x08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74152" y="2002536"/>
            <a:ext cx="749808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698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900" b="1">
                <a:solidFill>
                  <a:srgbClr val="1F2937"/>
                </a:solidFill>
                <a:latin typeface="Calibri"/>
              </a:rPr>
              <a:t>RET_LO</a:t>
            </a:r>
          </a:p>
          <a:p>
            <a:pPr algn="ctr"/>
            <a:r>
              <a:rPr sz="700" b="0">
                <a:solidFill>
                  <a:srgbClr val="6B7280"/>
                </a:solidFill>
                <a:latin typeface="Calibri"/>
              </a:rPr>
              <a:t>0x0C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97112" y="2002536"/>
            <a:ext cx="749808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698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900" b="1">
                <a:solidFill>
                  <a:srgbClr val="1F2937"/>
                </a:solidFill>
                <a:latin typeface="Calibri"/>
              </a:rPr>
              <a:t>RET_MID</a:t>
            </a:r>
          </a:p>
          <a:p>
            <a:pPr algn="ctr"/>
            <a:r>
              <a:rPr sz="700" b="0">
                <a:solidFill>
                  <a:srgbClr val="6B7280"/>
                </a:solidFill>
                <a:latin typeface="Calibri"/>
              </a:rPr>
              <a:t>0x10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20072" y="2002536"/>
            <a:ext cx="749808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698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900" b="1">
                <a:solidFill>
                  <a:srgbClr val="1F2937"/>
                </a:solidFill>
                <a:latin typeface="Calibri"/>
              </a:rPr>
              <a:t>RET_HI</a:t>
            </a:r>
          </a:p>
          <a:p>
            <a:pPr algn="ctr"/>
            <a:r>
              <a:rPr sz="700" b="0">
                <a:solidFill>
                  <a:srgbClr val="6B7280"/>
                </a:solidFill>
                <a:latin typeface="Calibri"/>
              </a:rPr>
              <a:t>0x14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532120" y="2679192"/>
            <a:ext cx="2542032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577840" y="2706624"/>
            <a:ext cx="1097280" cy="182880"/>
          </a:xfrm>
          <a:prstGeom prst="roundRect">
            <a:avLst>
              <a:gd name="adj" fmla="val 15000"/>
            </a:avLst>
          </a:prstGeom>
          <a:solidFill>
            <a:srgbClr val="F3F4F6"/>
          </a:solidFill>
          <a:ln w="508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32918" bIns="32918" wrap="square"/>
          <a:lstStyle/>
          <a:p>
            <a:pPr algn="l"/>
            <a:r>
              <a:rPr sz="800" b="1">
                <a:solidFill>
                  <a:srgbClr val="6B7280"/>
                </a:solidFill>
                <a:latin typeface="Calibri"/>
              </a:rPr>
              <a:t>Control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05272" y="2935224"/>
            <a:ext cx="749808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698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900" b="1">
                <a:solidFill>
                  <a:srgbClr val="1F2937"/>
                </a:solidFill>
                <a:latin typeface="Calibri"/>
              </a:rPr>
              <a:t>NOC_CTRL</a:t>
            </a:r>
          </a:p>
          <a:p>
            <a:pPr algn="ctr"/>
            <a:r>
              <a:rPr sz="700" b="0">
                <a:solidFill>
                  <a:srgbClr val="6B7280"/>
                </a:solidFill>
                <a:latin typeface="Calibri"/>
              </a:rPr>
              <a:t>0x1C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28232" y="2935224"/>
            <a:ext cx="749808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698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900" b="1">
                <a:solidFill>
                  <a:srgbClr val="1F2937"/>
                </a:solidFill>
                <a:latin typeface="Calibri"/>
              </a:rPr>
              <a:t>CMD_CTRL</a:t>
            </a:r>
          </a:p>
          <a:p>
            <a:pPr algn="ctr"/>
            <a:r>
              <a:rPr sz="700" b="0">
                <a:solidFill>
                  <a:srgbClr val="6B7280"/>
                </a:solidFill>
                <a:latin typeface="Calibri"/>
              </a:rPr>
              <a:t>0x40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51192" y="2935224"/>
            <a:ext cx="749808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698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900" b="1">
                <a:solidFill>
                  <a:srgbClr val="1F2937"/>
                </a:solidFill>
                <a:latin typeface="Calibri"/>
              </a:rPr>
              <a:t>PACKET_TAG</a:t>
            </a:r>
          </a:p>
          <a:p>
            <a:pPr algn="ctr"/>
            <a:r>
              <a:rPr sz="700" b="0">
                <a:solidFill>
                  <a:srgbClr val="6B7280"/>
                </a:solidFill>
                <a:latin typeface="Calibri"/>
              </a:rPr>
              <a:t>0x18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83880" y="2679192"/>
            <a:ext cx="1719072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29600" y="2706624"/>
            <a:ext cx="1097280" cy="182880"/>
          </a:xfrm>
          <a:prstGeom prst="roundRect">
            <a:avLst>
              <a:gd name="adj" fmla="val 15000"/>
            </a:avLst>
          </a:prstGeom>
          <a:solidFill>
            <a:srgbClr val="F3F4F6"/>
          </a:solidFill>
          <a:ln w="508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32918" bIns="32918" wrap="square"/>
          <a:lstStyle/>
          <a:p>
            <a:pPr algn="l"/>
            <a:r>
              <a:rPr sz="800" b="1">
                <a:solidFill>
                  <a:srgbClr val="6B7280"/>
                </a:solidFill>
                <a:latin typeface="Calibri"/>
              </a:rPr>
              <a:t>Atomic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57032" y="2935224"/>
            <a:ext cx="749808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698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900" b="1">
                <a:solidFill>
                  <a:srgbClr val="1F2937"/>
                </a:solidFill>
                <a:latin typeface="Calibri"/>
              </a:rPr>
              <a:t>AT_LEN_BE</a:t>
            </a:r>
          </a:p>
          <a:p>
            <a:pPr algn="ctr"/>
            <a:r>
              <a:rPr sz="700" b="0">
                <a:solidFill>
                  <a:srgbClr val="6B7280"/>
                </a:solidFill>
                <a:latin typeface="Calibri"/>
              </a:rPr>
              <a:t>0x20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79992" y="2935224"/>
            <a:ext cx="749808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698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900" b="1">
                <a:solidFill>
                  <a:srgbClr val="1F2937"/>
                </a:solidFill>
                <a:latin typeface="Calibri"/>
              </a:rPr>
              <a:t>AT_DATA</a:t>
            </a:r>
          </a:p>
          <a:p>
            <a:pPr algn="ctr"/>
            <a:r>
              <a:rPr sz="700" b="0">
                <a:solidFill>
                  <a:srgbClr val="6B7280"/>
                </a:solidFill>
                <a:latin typeface="Calibri"/>
              </a:rPr>
              <a:t>0x28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40112" y="2642616"/>
            <a:ext cx="1417320" cy="859536"/>
          </a:xfrm>
          <a:prstGeom prst="roundRect">
            <a:avLst>
              <a:gd name="adj" fmla="val 10000"/>
            </a:avLst>
          </a:prstGeom>
          <a:solidFill>
            <a:srgbClr val="FDEAE7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085832" y="2670048"/>
            <a:ext cx="1325880" cy="201168"/>
          </a:xfrm>
          <a:prstGeom prst="roundRect">
            <a:avLst>
              <a:gd name="adj" fmla="val 15000"/>
            </a:avLst>
          </a:prstGeom>
          <a:solidFill>
            <a:srgbClr val="C0392B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32918" bIns="32918" wrap="square"/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★ Multicast (new in Blackhole)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113264" y="2935224"/>
            <a:ext cx="1271016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778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1000" b="1">
                <a:solidFill>
                  <a:srgbClr val="C0392B"/>
                </a:solidFill>
                <a:latin typeface="Calibri"/>
              </a:rPr>
              <a:t>BRCST_EXCLUDE</a:t>
            </a:r>
          </a:p>
          <a:p>
            <a:pPr algn="ctr"/>
            <a:r>
              <a:rPr sz="700" b="0">
                <a:solidFill>
                  <a:srgbClr val="C0392B"/>
                </a:solidFill>
                <a:latin typeface="Calibri"/>
              </a:rPr>
              <a:t>0x2C  ·  24-bit mask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532120" y="3639312"/>
            <a:ext cx="5852159" cy="438912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" rIns="45720" tIns="27432" bIns="27432" wrap="square"/>
          <a:lstStyle/>
          <a:p>
            <a:pPr algn="ctr"/>
            <a:r>
              <a:rPr sz="800" b="1">
                <a:solidFill>
                  <a:srgbClr val="6B7280"/>
                </a:solidFill>
                <a:latin typeface="Calibri"/>
              </a:rPr>
              <a:t>NOC_CTRL command bits</a:t>
            </a:r>
          </a:p>
          <a:p>
            <a:pPr algn="ctr"/>
            <a:r>
              <a:rPr sz="900" b="0">
                <a:solidFill>
                  <a:srgbClr val="1F2937"/>
                </a:solidFill>
                <a:latin typeface="Calibri"/>
              </a:rPr>
              <a:t>BRCST_PACKET (b5)     BRCST_XY (b16)     BRCST_SRC_INCLUDE (b17)     ★ combined with BRCST_EXCLUDE for per-mcast destination drop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4709160"/>
            <a:ext cx="5532120" cy="548640"/>
          </a:xfrm>
          <a:prstGeom prst="roundRect">
            <a:avLst>
              <a:gd name="adj" fmla="val 18000"/>
            </a:avLst>
          </a:prstGeom>
          <a:solidFill>
            <a:srgbClr val="1F293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NoC 0 router  ·  X-Y routing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72200" y="4709160"/>
            <a:ext cx="5532120" cy="548640"/>
          </a:xfrm>
          <a:prstGeom prst="roundRect">
            <a:avLst>
              <a:gd name="adj" fmla="val 18000"/>
            </a:avLst>
          </a:prstGeom>
          <a:solidFill>
            <a:srgbClr val="1F293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NoC 1 router  ·  Y-X routing (disjoint from NoC 0)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5989320"/>
            <a:ext cx="11548872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1000" b="0">
                <a:solidFill>
                  <a:srgbClr val="6B7280"/>
                </a:solidFill>
                <a:latin typeface="Calibri"/>
              </a:rPr>
              <a:t>↑ N     ↓ S     ← W     → E     2D mesh links to neighboring Tensix / DRAM / PCIe / ARC tiles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6355080"/>
            <a:ext cx="11548872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" rIns="45720" tIns="27432" bIns="27432" wrap="square"/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Fig. — BRCST_EXCLUDE is a Blackhole-generation register (absent in Wormhole) that lets a single multicast issue drop a bitmask of destinations inside the target rectangle. HW &amp; firmware expose it; the kernel-facing dataflow API does not yet wire it through.</a:t>
            </a:r>
          </a:p>
        </p:txBody>
      </p:sp>
      <p:cxnSp>
        <p:nvCxnSpPr>
          <p:cNvPr id="43" name="Connector 42"/>
          <p:cNvCxnSpPr/>
          <p:nvPr/>
        </p:nvCxnSpPr>
        <p:spPr>
          <a:xfrm flipH="1" flipV="1">
            <a:off x="1801368" y="-617219"/>
            <a:ext cx="118872" cy="3131819"/>
          </a:xfrm>
          <a:prstGeom prst="line">
            <a:avLst/>
          </a:prstGeom>
          <a:ln w="1143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 flipV="1">
            <a:off x="228600" y="0"/>
            <a:ext cx="3063240" cy="3063240"/>
          </a:xfrm>
          <a:prstGeom prst="line">
            <a:avLst/>
          </a:prstGeom>
          <a:ln w="1143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 flipV="1">
            <a:off x="-228600" y="0"/>
            <a:ext cx="3749040" cy="3337560"/>
          </a:xfrm>
          <a:prstGeom prst="line">
            <a:avLst/>
          </a:prstGeom>
          <a:ln w="1143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 flipV="1">
            <a:off x="-1207007" y="228600"/>
            <a:ext cx="5705855" cy="4251960"/>
          </a:xfrm>
          <a:prstGeom prst="line">
            <a:avLst/>
          </a:prstGeom>
          <a:ln w="1143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 flipV="1">
            <a:off x="4233672" y="228600"/>
            <a:ext cx="448056" cy="4251960"/>
          </a:xfrm>
          <a:prstGeom prst="line">
            <a:avLst/>
          </a:prstGeom>
          <a:ln w="1143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 flipV="1">
            <a:off x="0" y="731519"/>
            <a:ext cx="1828800" cy="4526281"/>
          </a:xfrm>
          <a:prstGeom prst="line">
            <a:avLst/>
          </a:prstGeom>
          <a:ln w="1143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 flipV="1">
            <a:off x="0" y="731519"/>
            <a:ext cx="4754880" cy="4526281"/>
          </a:xfrm>
          <a:prstGeom prst="line">
            <a:avLst/>
          </a:prstGeom>
          <a:ln w="1143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 flipV="1">
            <a:off x="0" y="731519"/>
            <a:ext cx="7680960" cy="4526281"/>
          </a:xfrm>
          <a:prstGeom prst="line">
            <a:avLst/>
          </a:prstGeom>
          <a:ln w="1143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 flipV="1">
            <a:off x="0" y="731519"/>
            <a:ext cx="10424160" cy="4526281"/>
          </a:xfrm>
          <a:prstGeom prst="line">
            <a:avLst/>
          </a:prstGeom>
          <a:ln w="1143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
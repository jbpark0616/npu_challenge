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H="1" flipV="1">
            <a:off x="365759" y="0"/>
            <a:ext cx="137161" cy="292608"/>
          </a:xfrm>
          <a:prstGeom prst="line">
            <a:avLst/>
          </a:prstGeom>
          <a:ln w="31750">
            <a:solidFill>
              <a:srgbClr val="D021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14400" y="182880"/>
            <a:ext cx="15544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: NoC 0 traffic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365759" y="0"/>
            <a:ext cx="2148841" cy="292608"/>
          </a:xfrm>
          <a:prstGeom prst="line">
            <a:avLst/>
          </a:prstGeom>
          <a:ln w="31750">
            <a:solidFill>
              <a:srgbClr val="1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926080" y="182880"/>
            <a:ext cx="15544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: NoC 1 traffic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11479" y="0"/>
            <a:ext cx="4069081" cy="292608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937760" y="182880"/>
            <a:ext cx="18288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: zoom callout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3474720" cy="4937760"/>
          </a:xfrm>
          <a:prstGeom prst="rect">
            <a:avLst/>
          </a:prstGeom>
          <a:solidFill>
            <a:srgbClr val="EAF1F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19" y="1508760"/>
            <a:ext cx="2834639" cy="297180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1300" b="1">
                <a:solidFill>
                  <a:srgbClr val="808080"/>
                </a:solidFill>
                <a:latin typeface="Calibri"/>
              </a:rPr>
              <a:t>Tensix Core</a:t>
            </a:r>
          </a:p>
          <a:p>
            <a:pPr algn="ctr"/>
            <a:r>
              <a:rPr sz="600" b="0">
                <a:solidFill>
                  <a:srgbClr val="808080"/>
                </a:solidFill>
                <a:latin typeface="Calibri"/>
              </a:rPr>
              <a:t> </a:t>
            </a:r>
          </a:p>
          <a:p>
            <a:pPr algn="ctr"/>
            <a:r>
              <a:rPr sz="1000" b="0">
                <a:solidFill>
                  <a:srgbClr val="808080"/>
                </a:solidFill>
                <a:latin typeface="Calibri"/>
              </a:rPr>
              <a:t>(compute · L1 SRAM</a:t>
            </a:r>
          </a:p>
          <a:p>
            <a:pPr algn="ctr"/>
            <a:r>
              <a:rPr sz="1000" b="0">
                <a:solidFill>
                  <a:srgbClr val="808080"/>
                </a:solidFill>
                <a:latin typeface="Calibri"/>
              </a:rPr>
              <a:t>body omitted)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754880"/>
            <a:ext cx="10515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NoC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754880"/>
            <a:ext cx="10515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NoC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144768"/>
            <a:ext cx="34747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Tensix Core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-640080" y="0"/>
            <a:ext cx="1691640" cy="4978908"/>
          </a:xfrm>
          <a:prstGeom prst="line">
            <a:avLst/>
          </a:prstGeom>
          <a:ln w="28575">
            <a:solidFill>
              <a:srgbClr val="1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1479" y="0"/>
            <a:ext cx="228601" cy="5202936"/>
          </a:xfrm>
          <a:prstGeom prst="line">
            <a:avLst/>
          </a:prstGeom>
          <a:ln w="28575">
            <a:solidFill>
              <a:srgbClr val="1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0" y="-3794760"/>
            <a:ext cx="1485899" cy="8549640"/>
          </a:xfrm>
          <a:prstGeom prst="line">
            <a:avLst/>
          </a:prstGeom>
          <a:ln w="28575">
            <a:solidFill>
              <a:srgbClr val="1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0" y="960120"/>
            <a:ext cx="1668780" cy="2834640"/>
          </a:xfrm>
          <a:prstGeom prst="line">
            <a:avLst/>
          </a:prstGeom>
          <a:ln w="28575">
            <a:solidFill>
              <a:srgbClr val="1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40080" y="0"/>
            <a:ext cx="3063240" cy="4978908"/>
          </a:xfrm>
          <a:prstGeom prst="line">
            <a:avLst/>
          </a:prstGeom>
          <a:ln w="28575">
            <a:solidFill>
              <a:srgbClr val="D021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-640080" y="0"/>
            <a:ext cx="4983480" cy="5202936"/>
          </a:xfrm>
          <a:prstGeom prst="line">
            <a:avLst/>
          </a:prstGeom>
          <a:ln w="28575">
            <a:solidFill>
              <a:srgbClr val="D021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0" y="1234439"/>
            <a:ext cx="3086099" cy="4160521"/>
          </a:xfrm>
          <a:prstGeom prst="line">
            <a:avLst/>
          </a:prstGeom>
          <a:ln w="28575">
            <a:solidFill>
              <a:srgbClr val="D021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0" y="-1234439"/>
            <a:ext cx="3268979" cy="7863839"/>
          </a:xfrm>
          <a:prstGeom prst="line">
            <a:avLst/>
          </a:prstGeom>
          <a:ln w="28575">
            <a:solidFill>
              <a:srgbClr val="D021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28599" y="4590288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900" b="1">
                <a:solidFill>
                  <a:srgbClr val="1E8A2E"/>
                </a:solidFill>
                <a:latin typeface="Calibri"/>
              </a:rPr>
              <a:t>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03019" y="822960"/>
            <a:ext cx="548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900" b="1">
                <a:solidFill>
                  <a:srgbClr val="1E8A2E"/>
                </a:solidFill>
                <a:latin typeface="Calibri"/>
              </a:rPr>
              <a:t>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590288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900" b="1">
                <a:solidFill>
                  <a:srgbClr val="D0212C"/>
                </a:solidFill>
                <a:latin typeface="Calibri"/>
              </a:rPr>
              <a:t>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4659" y="6629400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900" b="1">
                <a:solidFill>
                  <a:srgbClr val="D0212C"/>
                </a:solidFill>
                <a:latin typeface="Calibri"/>
              </a:rPr>
              <a:t>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508760" y="-3383280"/>
            <a:ext cx="2194560" cy="8183880"/>
          </a:xfrm>
          <a:prstGeom prst="line">
            <a:avLst/>
          </a:prstGeom>
          <a:ln w="1143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508760" y="548639"/>
            <a:ext cx="2194560" cy="4846321"/>
          </a:xfrm>
          <a:prstGeom prst="line">
            <a:avLst/>
          </a:prstGeom>
          <a:ln w="1143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212080" y="1417320"/>
            <a:ext cx="6720840" cy="45262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5232" y="1490472"/>
            <a:ext cx="1737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NoC 0 Router (zoom)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350008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PE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822959" y="0"/>
            <a:ext cx="4343401" cy="2468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26280" y="3264408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North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822959" y="0"/>
            <a:ext cx="4343401" cy="3383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526280" y="4178808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West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822959" y="0"/>
            <a:ext cx="4343401" cy="4297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74920" y="4434840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000" b="1">
                <a:solidFill>
                  <a:srgbClr val="000000"/>
                </a:solidFill>
                <a:latin typeface="Calibri"/>
              </a:rPr>
              <a:t>32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920240"/>
            <a:ext cx="2194560" cy="2603754"/>
          </a:xfrm>
          <a:prstGeom prst="rect">
            <a:avLst/>
          </a:prstGeom>
          <a:solidFill>
            <a:srgbClr val="E8F0FB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05740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2112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3296" y="2112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65592" y="2112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47888" y="2112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237744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24323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83296" y="24323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65592" y="24323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24323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269748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...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27523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83296" y="27523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65592" y="27523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47888" y="27523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301752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0723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83296" y="30723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65592" y="30723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47888" y="30723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80759" y="2011680"/>
            <a:ext cx="2194560" cy="2603754"/>
          </a:xfrm>
          <a:prstGeom prst="rect">
            <a:avLst/>
          </a:prstGeom>
          <a:solidFill>
            <a:srgbClr val="E8F0FB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214884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59" y="22037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91855" y="22037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74151" y="22037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56447" y="220370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246888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09559" y="25237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91855" y="25237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74151" y="25237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56447" y="25237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278892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...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09559" y="28437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91855" y="28437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74151" y="28437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56447" y="28437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17920" y="310896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59" y="31638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91855" y="31638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74151" y="31638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56447" y="31638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89320" y="2103120"/>
            <a:ext cx="2194560" cy="2603754"/>
          </a:xfrm>
          <a:prstGeom prst="rect">
            <a:avLst/>
          </a:prstGeom>
          <a:solidFill>
            <a:srgbClr val="E8F0FB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26480" y="224028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18119" y="22951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00415" y="22951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82711" y="22951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65007" y="229514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26480" y="256032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19" y="26151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00415" y="26151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82711" y="26151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65007" y="261518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26480" y="288036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...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18119" y="29352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00415" y="29352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82711" y="29352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65007" y="293522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26480" y="320040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VC 15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18119" y="3255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900415" y="3255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82711" y="3255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065007" y="3255264"/>
            <a:ext cx="54864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15400" y="2286000"/>
            <a:ext cx="1645920" cy="24231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H="1" flipV="1">
            <a:off x="1371600" y="2148840"/>
            <a:ext cx="7680960" cy="27432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-1371600" y="2148840"/>
            <a:ext cx="11795760" cy="27432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8915400" y="47548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Switch</a:t>
            </a:r>
          </a:p>
        </p:txBody>
      </p:sp>
      <p:cxnSp>
        <p:nvCxnSpPr>
          <p:cNvPr id="103" name="Connector 102"/>
          <p:cNvCxnSpPr/>
          <p:nvPr/>
        </p:nvCxnSpPr>
        <p:spPr>
          <a:xfrm flipH="1" flipV="1">
            <a:off x="713232" y="137159"/>
            <a:ext cx="7488935" cy="2331721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713232" y="114300"/>
            <a:ext cx="7488935" cy="3268980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3232" y="91440"/>
            <a:ext cx="7488935" cy="4206240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777239" y="0"/>
            <a:ext cx="9784081" cy="26974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11384280" y="2569464"/>
            <a:ext cx="54864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PE</a:t>
            </a:r>
          </a:p>
        </p:txBody>
      </p:sp>
      <p:cxnSp>
        <p:nvCxnSpPr>
          <p:cNvPr id="108" name="Connector 107"/>
          <p:cNvCxnSpPr/>
          <p:nvPr/>
        </p:nvCxnSpPr>
        <p:spPr>
          <a:xfrm flipH="1" flipV="1">
            <a:off x="777239" y="0"/>
            <a:ext cx="9784081" cy="3497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11384280" y="3369564"/>
            <a:ext cx="54864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South</a:t>
            </a:r>
          </a:p>
        </p:txBody>
      </p:sp>
      <p:cxnSp>
        <p:nvCxnSpPr>
          <p:cNvPr id="110" name="Connector 109"/>
          <p:cNvCxnSpPr/>
          <p:nvPr/>
        </p:nvCxnSpPr>
        <p:spPr>
          <a:xfrm flipH="1" flipV="1">
            <a:off x="777239" y="0"/>
            <a:ext cx="9784081" cy="4297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11384280" y="4169664"/>
            <a:ext cx="54864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East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95360" y="4892040"/>
            <a:ext cx="2286000" cy="777240"/>
          </a:xfrm>
          <a:prstGeom prst="rect">
            <a:avLst/>
          </a:prstGeom>
          <a:solidFill>
            <a:srgbClr val="FDEA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595360" y="4892040"/>
            <a:ext cx="228600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9260" bIns="29260"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★  New in Blackhole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668512" y="5148072"/>
            <a:ext cx="2139696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4630" bIns="14630" wrap="square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NOC_BRCST_EXCLUDE</a:t>
            </a:r>
          </a:p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(offset 0x2C, 24-bit mask)</a:t>
            </a:r>
          </a:p>
        </p:txBody>
      </p:sp>
      <p:cxnSp>
        <p:nvCxnSpPr>
          <p:cNvPr id="115" name="Connector 114"/>
          <p:cNvCxnSpPr/>
          <p:nvPr/>
        </p:nvCxnSpPr>
        <p:spPr>
          <a:xfrm flipH="1" flipV="1">
            <a:off x="0" y="-182879"/>
            <a:ext cx="9738360" cy="5074919"/>
          </a:xfrm>
          <a:prstGeom prst="line">
            <a:avLst/>
          </a:prstGeom>
          <a:ln w="17780">
            <a:solidFill>
              <a:srgbClr val="C0392B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9784080" y="466344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7315" bIns="7315" wrap="square"/>
          <a:lstStyle/>
          <a:p>
            <a:pPr algn="l"/>
            <a:r>
              <a:rPr sz="900" b="0">
                <a:solidFill>
                  <a:srgbClr val="C0392B"/>
                </a:solidFill>
                <a:latin typeface="Calibri"/>
              </a:rPr>
              <a:t>per-mcast destination mask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" y="626364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Fig. — NoC subsystem of a Blackhole Tensix tile.  Left: two independent NoCs (NoC 0 uses X-Y routing, NoC 1 uses Y-X, disjoint physical channels).  Right: NoC 0 router internals — per-input VC buffers feed a 5-port switch.  ★ BRCST_EXCLUDE (Blackhole-new, absent in Wormhole) supplies a 24-bit destination-drop mask to the switch’s broadcast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